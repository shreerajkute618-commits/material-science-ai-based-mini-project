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 b="1">
                <a:solidFill>
                  <a:srgbClr val="1E3A8A"/>
                </a:solidFill>
              </a:defRPr>
            </a:pPr>
            <a:r>
              <a:t>AI-BASED IDENTIFICATION AND SORTING OF RECYCLABLE MATERIALS</a:t>
            </a:r>
          </a:p>
          <a:p>
            <a:pPr>
              <a:spcAft>
                <a:spcPts val="2400"/>
              </a:spcAft>
              <a:defRPr sz="1500">
                <a:solidFill>
                  <a:srgbClr val="475569"/>
                </a:solidFill>
              </a:defRPr>
            </a:pPr>
            <a:r>
              <a:t>Computer Vision &amp; Deep Learning for Materials Science &amp; Circular Engineering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Candidate: [STUDENT NAME - EDITABLE] | Roll No: [ROLL NUMBER - EDITABLE]</a:t>
            </a:r>
            <a:br/>
            <a:r>
              <a:t>Department of Materials Science and Engineering</a:t>
            </a:r>
            <a:br/>
            <a:r>
              <a:t>[COLLEGE / UNIVERSITY NAME - EDITABLE]</a:t>
            </a:r>
            <a:br/>
            <a:r>
              <a:t>Academic Year: 2026 – 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MATERIALS SCIENCE &amp; CIRCULAR ENGINEERING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The Global Waste Challenge &amp;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Global municipal solid waste generation is projected to exceed 3.4 billion tonnes by 2050.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Material Recovery Facilities (MRFs) depend heavily on hazardous manual picking lines.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High Cross-Contamination: Human sorting fatigue leads to &gt;20% impurity in recycled scrap bales.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Occupational Hazards: Workers face sharp metals, broken glass, airborne pathogens, and chemical leachates.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The Need: An automated, high-speed, vision-driven classification and sorting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MATERIALS SCIENCE &amp; CIRCULAR ENGINEERING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Project Objectives &amp;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Deep Learning Classification: Categorize waste into 6 classes (Plastic, Metal, Paper, Cardboard, Glass, Trash).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Materials Science Integration: Link visual features to macromolecular, crystalline, and amorphous structures.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Zero Data Leakage: Guarantee unbiased evaluation using an empirical 70/15/15 train/val/test split.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Uncertainty Guardrails: Flag images below 50% confidence to prevent overconfident erroneous sorting.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Digital Twin Simulation: Provide a real-time automated conveyor and chute diverter demonstration.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User Interface &amp; Auditing: Build an interactive Streamlit app with webcam input and CSV history export.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MATERIALS SCIENCE &amp; CIRCULAR ENGINEERING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Materials Science &amp; Circular Engineering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Polymers (Plastics): Long covalent chains; mechanical recycling limited to 4-6 cycles due to thermal degradation.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Metals (Al-Alloys &amp; Steels): Crystalline lattices with metallic bonding; infinitely recyclable without property loss.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Paper &amp; Cardboard: Hydrophilic cellulose webs; mechanical pulping shortens fibers, requiring eventual downcycling.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Glass (Silicates): Amorphous SiO2 network; cullet addition reduces furnace energy by 2-3% per 10% added.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Other / Refuse: Non-separable multi-layer laminates diverted to Refuse-Derived Fuel (RDF) gasification.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MATERIALS SCIENCE &amp; CIRCULAR ENGINEERING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End-to-End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Input Layer: RGB Image ingestion from user file upload or live browser webcam feed.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Preprocessing: EXIF rotation correction, resizing to 224x224 pixels, and ImageNet normalization.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CNN Backbone: Pretrained MobileNetV2 feature extractor leveraging inverted residual blocks.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Classifier Head: Global Average Pooling -&gt; Dropout (0.2) -&gt; Linear (128) -&gt; ReLU -&gt; Dropout (0.3) -&gt; Linear (6).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Softmax &amp; Decision Engine: Probability calibration, uncertainty evaluation, and materials knowledge lookup.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Actuation &amp; Logging: Visual conveyor chute triggering and persistent CSV audit logging.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MATERIALS SCIENCE &amp; CIRCULAR ENGINEERING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Deep Learning Architecture: Why MobileNetV2?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Depthwise Separable Convolutions: Splits spatial filtering from cross-channel combination, reducing computation by 8-9x.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Inverted Residuals &amp; Linear Bottlenecks: Expands to high dimensions for feature extraction, then projects back linearly.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Parameter Efficiency: ~3.4 million parameters compared to 138 million for VGG16, preventing edge latency bottlenecks.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Transfer Learning: Exploits rich hierarchical visual features pretrained on 1.4 million ImageNet samples.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MATERIALS SCIENCE &amp; CIRCULAR ENGINEERING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Benchmark Dataset &amp; Stratified Splitting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Benchmark Dataset: Stanford TrashNet (2,527 genuine real-world waste images across 6 classes).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Training Set (70% - 1,766 images): Trained with random rotation, flips, and color jitter augmentation.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Validation Set (15% - 377 images): Used for learning rate scheduling and early model checkpointing.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Test Set (15% - 384 images): Held out strictly for final unbiased empirical evaluation.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Absolute Zero Leakage: Fixed random seeds ensure completely independent partitions.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MATERIALS SCIENCE &amp; CIRCULAR ENGINEERING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Experimental Evaluation &amp; Empirical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Multi-Metric Evaluation: Overall Accuracy, Macro F1-Score, Weighted Recall, and Confusion Matrix.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High Performance Classes: Cardboard, Glass, and Metal achieve high precision due to distinct specular and edge signatures.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Ambiguity Handling: Flexible plastics occasionally resemble paper; caught effectively by the 50% uncertainty filter.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Full Reproducibility: All evaluation metrics, confusion matrix heatmaps, and loss graphs are automatically generated.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MATERIALS SCIENCE &amp; CIRCULAR ENGINEERING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Interactive Demonstration &amp; Digital Twin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Interactive Streamlit App: Clean, responsive user experience for laboratory demonstrations.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Real-Time Webcam Classification: Live camera stream integration for on-the-spot physical testing.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Confidence Distribution Bar Chart: Transparent visualization of all 6 class probability scores.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Conveyor &amp; Chute Diverter Twin: Animated representation of industrial optical and magnetic sorters.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CSV Export: Instant download of complete prediction history for auditing and compliance.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MATERIALS SCIENCE &amp; CIRCULAR ENGINEERING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Conclusions &amp; Future Engineering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Conclusion: Successfully designed, trained, and demonstrated a scientifically grounded recyclable sorting AI.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Key Takeaway: Bridges AI computer vision with thermodynamic materials properties and circular lifecycle engineering.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Future Scope 1 - Hyperspectral SWIR: Detect exact polymer absorption bands (distinguish PET, HDPE, PP).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Future Scope 2 - 3D RGB-D Vision: Compute volume and center-of-mass for robotic delta pickers.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Future Scope 3 - Edge Deployment: Deploy compiled TensorRT engine on NVIDIA Jetson embedded hardware.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